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Receita</c:v>
                </c:pt>
              </c:strCache>
            </c:strRef>
          </c:tx>
          <c:spPr>
            <a:solidFill>
              <a:srgbClr val="4F46E5"/>
            </a:solidFill>
            <a:ln w="38100" cap="flat">
              <a:solidFill>
                <a:srgbClr val="4F46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46E5"/>
              </a:solidFill>
              <a:ln w="9525" cap="flat">
                <a:solidFill>
                  <a:srgbClr val="4F46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0</c:v>
                  </c:pt>
                  <c:pt idx="1">
                    <c:v>2</c:v>
                  </c:pt>
                  <c:pt idx="2">
                    <c:v>4</c:v>
                  </c:pt>
                  <c:pt idx="3">
                    <c:v>6</c:v>
                  </c:pt>
                  <c:pt idx="4">
                    <c:v>8</c:v>
                  </c:pt>
                  <c:pt idx="5">
                    <c:v>10</c:v>
                  </c:pt>
                  <c:pt idx="6">
                    <c:v>12</c:v>
                  </c:pt>
                  <c:pt idx="7">
                    <c:v>14</c:v>
                  </c:pt>
                  <c:pt idx="8">
                    <c:v>16</c:v>
                  </c:pt>
                  <c:pt idx="9">
                    <c:v>18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18</c:v>
                </c:pt>
                <c:pt idx="2">
                  <c:v>32</c:v>
                </c:pt>
                <c:pt idx="3">
                  <c:v>42</c:v>
                </c:pt>
                <c:pt idx="4">
                  <c:v>48</c:v>
                </c:pt>
                <c:pt idx="5">
                  <c:v>50</c:v>
                </c:pt>
                <c:pt idx="6">
                  <c:v>48</c:v>
                </c:pt>
                <c:pt idx="7">
                  <c:v>42</c:v>
                </c:pt>
                <c:pt idx="8">
                  <c:v>32</c:v>
                </c:pt>
                <c:pt idx="9">
                  <c:v>18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Investimento no canal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64748B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64748B"/>
                    </a:solidFill>
                    <a:latin typeface="Arial"/>
                  </a:rPr>
                  <a:t>Receita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Investimento</c:v>
                </c:pt>
              </c:strCache>
            </c:strRef>
          </c:tx>
          <c:spPr>
            <a:solidFill>
              <a:srgbClr val="4F46E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Canal A (Google)</c:v>
                  </c:pt>
                  <c:pt idx="1">
                    <c:v>Canal B (Instagram)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</c:v>
                </c:pt>
                <c:pt idx="1">
                  <c:v>8.75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Abertura: apresentar o tema — usar cálculo de várias variáveis para resolver um problema real de marketing, com sistema full stack ao final.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diminishing returns: a curva é arqueada para baixo (côncava). Citar o artigo real (Springer, dados de Google/Facebook/Baidu). Essa concavidade é o que garante um ponto ótimo.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Apresentar a persona como cliente real. A dor central: decisão sem critério, verba desperdiçada e falta de justificativa para a diretoria.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Métricas mensuráveis: ganho de lucro, redução de desperdício e de tempo, e 100% de decisões justificáveis.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Definir as variáveis de decisão e a função objetivo. Destacar que a receita é côncava (b&gt;0) e o custo é linear. O domínio é o primeiro quadrante.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cálculo das parciais, montar o gradiente e resolver ∇L=0. Enfatizar que o sistema é desacoplado, dando solução fechada e única.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Aplicar o critério da Hessiana. Como é diagonal com entradas negativas, os autovalores são negativos → negativa definida → máximo global. Esse é o coração da disciplina.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um caso concreto com números. Conectar com a recomendação que o sistema entrega à Rafaela e a garantia matemática (autovalores negativos).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o fluxo: o usuário só insere 4 números; o back end faz toda a matemática simbólica; o front end devolve recomendação + justificativa. Momento de fazer a DEMO ao vivo.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Detalhar a separação de responsabilidades. Reforçar que o usuário não precisa saber cálculo — a justificativa matemática vem pronta do back 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como o sistema traduz a matemática para o usuário leigo — atende explicitamente ao requisito da seção 'Como a solução foi obtida'.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amarrando os critérios: prospecção, modelagem, persona, implementação. Declarar uso de IA. Abrir para perguntas.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UNIVERSITÁRIO DO PARÁ · CIÊNCIA DA COMPUTAÇÃO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Resolução de Problemas Multivariáveis · Prof. Pedro Girotto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2011680"/>
            <a:ext cx="1090879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Otimização da Alocação de</a:t>
            </a:r>
            <a:endParaRPr lang="en-US" sz="5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Orçamento de Marketing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640080" y="3886200"/>
            <a:ext cx="8961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Maximizar o lucro entre dois canais de mídia com retorno marginal decrescente — via gradiente e critério da Hessiana.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5074920"/>
            <a:ext cx="292608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5303520"/>
            <a:ext cx="109087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  </a:t>
            </a:r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Brazão  ·  Gabriel Goes  ·  Felipe Liborio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 full stack: FastAPI + SymPy + React  ·  Belém, junho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PROSPECÇÃO DO PROBLEMA (PBL)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problema real: onde investir a verba?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3736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Empresas dividem a verba entre canais de mídia (Google, Instagram). Cada canal tem retorno marginal decrescente: cada real a mais rende menos que o anterior, até saturar.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5486400" cy="2651760"/>
          </a:xfrm>
          <a:prstGeom prst="roundRect">
            <a:avLst>
              <a:gd name="adj" fmla="val 2759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3200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ARTIGO DE REFERÊNCIA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Yang, Y., Feng, B., Salminen, J. &amp; Jansen, B. J. (2022). </a:t>
            </a:r>
            <a:pPr indent="0" marL="0">
              <a:lnSpc>
                <a:spcPct val="108000"/>
              </a:lnSpc>
              <a:buNone/>
            </a:pPr>
            <a:r>
              <a:rPr lang="en-US" sz="1350" i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Optimal advertising for a generalized Vidale–Wolfe response model. 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Commerce Research, 22(4), 1275–1305. DOI: 10.1007/s10660-021-09468-x.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914400" y="48006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“…the ROI decreases, which is consistent with the law of diminishing marginal utility.”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0" y="16916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de um canal: retorno decrescente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492240" y="2057400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PERSONA E 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Rafaela precisa decidir — e justificar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4846320" cy="4023360"/>
          </a:xfrm>
          <a:prstGeom prst="roundRect">
            <a:avLst>
              <a:gd name="adj" fmla="val 1818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03120"/>
            <a:ext cx="1005840" cy="10058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10312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148840" y="2240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Rafaela Mendes, 31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2148840" y="26517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Analista de Marketing Digital · e-commerce de moda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60120" y="338328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R$ 40 mil/mês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mídia paga entre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Ads</a:t>
            </a:r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Lê planilhas, mas não tem formação em cálculo.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0" y="1828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0" y="2240280"/>
            <a:ext cx="55778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a divisão da verba “no feeling”, por tentativa e erro.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Investe demais no canal já saturado e de menos no que ainda renderia — desperdiça verba.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consegue justificar a alocação para a diretoria com números, só com intuição.</a:t>
            </a:r>
            <a:endParaRPr lang="en-US" sz="1600" dirty="0"/>
          </a:p>
          <a:p>
            <a:pPr marL="342900" indent="-342900">
              <a:lnSpc>
                <a:spcPct val="105000"/>
              </a:lnSpc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Refaz a análise manualmente todo mês (~4 horas).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PERSONA E CONTEXTO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 sucesso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2452878" cy="2743200"/>
          </a:xfrm>
          <a:prstGeom prst="roundRect">
            <a:avLst>
              <a:gd name="adj" fmla="val 29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31520" y="2560320"/>
            <a:ext cx="2269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0B98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+10–15%</a:t>
            </a:r>
            <a:endParaRPr lang="en-US" sz="3300" dirty="0"/>
          </a:p>
        </p:txBody>
      </p:sp>
      <p:sp>
        <p:nvSpPr>
          <p:cNvPr id="6" name="Shape 4"/>
          <p:cNvSpPr/>
          <p:nvPr/>
        </p:nvSpPr>
        <p:spPr>
          <a:xfrm>
            <a:off x="1500759" y="3520440"/>
            <a:ext cx="7315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3703320"/>
            <a:ext cx="19956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lucro líquido da mídia paga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58718" y="2011680"/>
            <a:ext cx="2452878" cy="2743200"/>
          </a:xfrm>
          <a:prstGeom prst="roundRect">
            <a:avLst>
              <a:gd name="adj" fmla="val 29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50158" y="2560320"/>
            <a:ext cx="2269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5%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4319397" y="3520440"/>
            <a:ext cx="7315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87318" y="3703320"/>
            <a:ext cx="19956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verba desperdiçada (era 15–20%)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77356" y="2011680"/>
            <a:ext cx="2452878" cy="2743200"/>
          </a:xfrm>
          <a:prstGeom prst="roundRect">
            <a:avLst>
              <a:gd name="adj" fmla="val 29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68796" y="2560320"/>
            <a:ext cx="2269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5 min</a:t>
            </a:r>
            <a:endParaRPr lang="en-US" sz="3300" dirty="0"/>
          </a:p>
        </p:txBody>
      </p:sp>
      <p:sp>
        <p:nvSpPr>
          <p:cNvPr id="14" name="Shape 12"/>
          <p:cNvSpPr/>
          <p:nvPr/>
        </p:nvSpPr>
        <p:spPr>
          <a:xfrm>
            <a:off x="7138035" y="3520440"/>
            <a:ext cx="7315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05956" y="3703320"/>
            <a:ext cx="19956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decidir a alocação (eram ~4 h)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095994" y="2011680"/>
            <a:ext cx="2452878" cy="2743200"/>
          </a:xfrm>
          <a:prstGeom prst="roundRect">
            <a:avLst>
              <a:gd name="adj" fmla="val 29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187434" y="2560320"/>
            <a:ext cx="22699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300" dirty="0"/>
          </a:p>
        </p:txBody>
      </p:sp>
      <p:sp>
        <p:nvSpPr>
          <p:cNvPr id="18" name="Shape 16"/>
          <p:cNvSpPr/>
          <p:nvPr/>
        </p:nvSpPr>
        <p:spPr>
          <a:xfrm>
            <a:off x="9956673" y="3520440"/>
            <a:ext cx="73152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4594" y="3703320"/>
            <a:ext cx="19956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decisões com justificativa à diretoria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0080" y="52120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parâmetros de cada canal Rafaela já obtém do histórico das próprias campanhas — o sistema apenas resolve a otimização.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MODELAGEM MATEMÁTICA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Variáveis, função objetivo e domínio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87452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x, y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194560" y="187452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em cada canal (mil R$), x, y ≥ 0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68680" y="274320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a₁, a₂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194560" y="274320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marginal inicial de cada canal (aᵢ &gt; 1)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5394960" cy="731520"/>
          </a:xfrm>
          <a:prstGeom prst="roundRect">
            <a:avLst>
              <a:gd name="adj" fmla="val 10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8680" y="3611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b₁, b₂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94560" y="3611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 de saturação / concavidade (bᵢ &gt; 0)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309360" y="182880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Receita de um canal (parábola côncava = retorno decrescente):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2240280"/>
            <a:ext cx="5212080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2240280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Rᵢ(t) = aᵢ·t − bᵢ·t²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309360" y="33375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total = receita dos 2 canais − custo (1 R$ investido = 1 R$):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309360" y="3749040"/>
            <a:ext cx="5212080" cy="9144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446520" y="37490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L(x,y) = (a₁x − b₁x²) + (a₂y − b₂y²) − (x + y)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09360" y="4892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Domínio:  D = { (x, y) ∈ ℝ² : x ≥ 0, y ≥ 0 }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MODELAGEM MATEMÁTICA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Gradiente e ponto crítico (∇L = 0)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Derivadas parciais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19456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∂L/∂x = a₁ − 2b₁x − 1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5303520" cy="822960"/>
          </a:xfrm>
          <a:prstGeom prst="roundRect">
            <a:avLst>
              <a:gd name="adj" fmla="val 8889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31546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∂L/∂y = a₂ − 2b₂y − 1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4160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4572000"/>
            <a:ext cx="5303520" cy="9144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77240" y="45720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∇L = ( a₁ − 2b₁x − 1 ,  a₂ − 2b₂y − 1 )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309360" y="1783080"/>
            <a:ext cx="5212080" cy="3703320"/>
          </a:xfrm>
          <a:prstGeom prst="roundRect">
            <a:avLst>
              <a:gd name="adj" fmla="val 1975"/>
            </a:avLst>
          </a:prstGeom>
          <a:solidFill>
            <a:srgbClr val="1E276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20116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Resolvendo ∇L = 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83680" y="2377440"/>
            <a:ext cx="4663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é desacoplado (cada equação só tem uma variável) → solução única em forma fechada: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583680" y="329184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720840" y="329184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x* = (a₁ − 1) / (2b₁)</a:t>
            </a:r>
            <a:endParaRPr lang="en-US" sz="2200" dirty="0"/>
          </a:p>
        </p:txBody>
      </p:sp>
      <p:sp>
        <p:nvSpPr>
          <p:cNvPr id="17" name="Shape 15"/>
          <p:cNvSpPr/>
          <p:nvPr/>
        </p:nvSpPr>
        <p:spPr>
          <a:xfrm>
            <a:off x="6583680" y="4343400"/>
            <a:ext cx="4663440" cy="9144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4343400"/>
            <a:ext cx="4389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y* = (a₂ − 1) / (2b₂)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MODELAGEM MATEMÁTICA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Hessiana → é um máximo global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Hessiana (constante, não depende de x, y):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5486400" cy="1188720"/>
          </a:xfrm>
          <a:prstGeom prst="roundRect">
            <a:avLst>
              <a:gd name="adj" fmla="val 6154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24028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 [ −2b₁    0 ]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     [   0   −2b₂ ]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40080" y="3657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Autovalores:  λ₁ = −2b₁ ,  λ₂ = −2b₂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4206240"/>
            <a:ext cx="5486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bᵢ &gt; 0, ambos os autovalores são estritamente negativos.</a:t>
            </a:r>
            <a:endParaRPr lang="en-US" sz="1500" dirty="0"/>
          </a:p>
          <a:p>
            <a:pPr indent="0" marL="0">
              <a:lnSpc>
                <a:spcPct val="1100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H é negativa definida em todo o plano.</a:t>
            </a:r>
            <a:endParaRPr lang="en-US" sz="15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⇒ L é estritamente côncava ⇒ ponto crítico único.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2103120"/>
            <a:ext cx="5029200" cy="3108960"/>
          </a:xfrm>
          <a:prstGeom prst="roundRect">
            <a:avLst>
              <a:gd name="adj" fmla="val 2353"/>
            </a:avLst>
          </a:prstGeom>
          <a:solidFill>
            <a:srgbClr val="10B981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492240" y="246888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492240" y="342900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MÁXIMO GLOBAL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766560" y="411480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CF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máximos locais concorrentes e sem fronteira a verificar — o ótimo é interior e garantido.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RESULTADO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Exemplo: a₁=10, b₁=0,5, a₂=8, b₂=0,4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Alocação ótima recomendada (mil R$)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640080" y="2194560"/>
          <a:ext cx="56692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92240" y="2194560"/>
            <a:ext cx="5029200" cy="1645920"/>
          </a:xfrm>
          <a:prstGeom prst="roundRect">
            <a:avLst>
              <a:gd name="adj" fmla="val 4444"/>
            </a:avLst>
          </a:prstGeom>
          <a:solidFill>
            <a:srgbClr val="F59E0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675120" y="2377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Lucro ótimo  L(x*, y*)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675120" y="2743200"/>
            <a:ext cx="4663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7C2D1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R$ 71,1 mil</a:t>
            </a:r>
            <a:endParaRPr lang="en-US" sz="4000" dirty="0"/>
          </a:p>
        </p:txBody>
      </p:sp>
      <p:sp>
        <p:nvSpPr>
          <p:cNvPr id="9" name="Shape 6"/>
          <p:cNvSpPr/>
          <p:nvPr/>
        </p:nvSpPr>
        <p:spPr>
          <a:xfrm>
            <a:off x="6492240" y="402336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720840" y="4206240"/>
            <a:ext cx="4572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R$ 9.000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canal A e </a:t>
            </a:r>
            <a:pPr indent="0" marL="0">
              <a:lnSpc>
                <a:spcPct val="112000"/>
              </a:lnSpc>
              <a:buNone/>
            </a:pPr>
            <a:r>
              <a:rPr lang="en-US" sz="14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R$ 8.750</a:t>
            </a:r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canal B. Autovalores −1,0 e −0,8 (&lt; 0) confirmam o máximo: qualquer desvio reduz o lucro.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IMPLEMENTAÇÃO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Arquitetura: do parâmetro à recomendação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011680" y="2560320"/>
            <a:ext cx="640080" cy="64008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6" name="Text 4"/>
          <p:cNvSpPr/>
          <p:nvPr/>
        </p:nvSpPr>
        <p:spPr>
          <a:xfrm>
            <a:off x="201168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 end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 insere a₁, b₁, a₂, b₂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Tailwind + Plotly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984498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1" name="Shape 9"/>
          <p:cNvSpPr/>
          <p:nvPr/>
        </p:nvSpPr>
        <p:spPr>
          <a:xfrm>
            <a:off x="4402836" y="228600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774436" y="25603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774436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85716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end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677156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∇L, resolve ∇L = 0, classifica via Hessiana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85716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SymPy + NumPy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747254" y="3246120"/>
            <a:ext cx="45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8" name="Shape 16"/>
          <p:cNvSpPr/>
          <p:nvPr/>
        </p:nvSpPr>
        <p:spPr>
          <a:xfrm>
            <a:off x="8165592" y="228600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9537192" y="2560320"/>
            <a:ext cx="640080" cy="64008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9537192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48472" y="33375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Recomendação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8439912" y="379476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x*, y*, L*, passos e gráfico 3D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348472" y="45720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“Como foi obtido”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0080" y="521208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Pydantic (aᵢ &gt; 1, bᵢ &gt; 0) · 8 testes pytest garantindo a corretude do cálculo.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IMPLEMENTAÇÃO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Back end e Front end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49240" cy="3931920"/>
          </a:xfrm>
          <a:prstGeom prst="roundRect">
            <a:avLst>
              <a:gd name="adj" fmla="val 1860"/>
            </a:avLst>
          </a:prstGeom>
          <a:solidFill>
            <a:srgbClr val="EEF2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574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END · FastAPI + SymPy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75488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/otimizar recebe (a₁, b₁, a₂, b₂).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 deriva ∂L/∂x, ∂L/∂y e resolve ∇L = 0.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 a Hessiana e classifica pelos autovalores.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x*, y*, L*, receita, custo e os passos.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/superficie gera a malha 3D do lucro.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355080" y="1828800"/>
            <a:ext cx="516636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 END · React + Tailwind + Plotly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75120" y="2468880"/>
            <a:ext cx="45720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simples: 4 parâmetros, sem matemática.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em cartões (R$) + classificação.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Superfície 3D do lucro com o ótimo destacado.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Seção “Como foi obtido” com os passos legíveis.</a:t>
            </a:r>
            <a:endParaRPr lang="en-US" sz="1400" dirty="0"/>
          </a:p>
          <a:p>
            <a:pPr marL="342900" indent="-342900">
              <a:lnSpc>
                <a:spcPct val="105000"/>
              </a:lnSpc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Pensado para a persona não especialista.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2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· COMUNICAÇÃO AO USUÁRIO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109087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“Como a solução foi obtida”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920240"/>
            <a:ext cx="859536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canal rende cada vez menos à medida que recebe mais dinheiro (satura). </a:t>
            </a:r>
            <a:endParaRPr lang="en-US" sz="20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ponto ótimo é onde o último real investido em A rende o mesmo que o último em B — daí em diante, mover verba só piora o resultado. </a:t>
            </a:r>
            <a:endParaRPr lang="en-US" sz="2000" dirty="0"/>
          </a:p>
          <a:p>
            <a:pPr indent="0" marL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Matematicamente, isso ocorre onde as duas inclinações do lucro (as derivadas parciais) são zero ao mesmo tempo. Resolvendo, chegamos a x* e y*. </a:t>
            </a:r>
            <a:endParaRPr lang="en-US" sz="20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teste da Hessiana confirma que é um pico (e não um vale): como a curva é “arqueada para baixo” nas duas direções, é o ponto de lucro máximo.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5852160"/>
            <a:ext cx="2377440" cy="0"/>
          </a:xfrm>
          <a:prstGeom prst="line">
            <a:avLst/>
          </a:prstGeom>
          <a:noFill/>
          <a:ln w="31750">
            <a:solidFill>
              <a:srgbClr val="F59E0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acessível — sem exigir cálculo do usuário.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77240"/>
            <a:ext cx="109087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087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teoria ao produto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21031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real (artigo Springer) modelado como L(x, y) de duas variáveis.</a:t>
            </a:r>
            <a:endParaRPr lang="en-US" sz="18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Gradiente, ponto crítico e Hessiana resolvidos analiticamente → máximo global.</a:t>
            </a:r>
            <a:endParaRPr lang="en-US" sz="18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full stack que entrega a recomendação e a justificativa à persona.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4480560"/>
            <a:ext cx="10908792" cy="1554480"/>
          </a:xfrm>
          <a:prstGeom prst="roundRect">
            <a:avLst>
              <a:gd name="adj" fmla="val 4706"/>
            </a:avLst>
          </a:prstGeom>
          <a:solidFill>
            <a:srgbClr val="16205A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14400" y="46177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de IA:  </a:t>
            </a:r>
            <a:pPr indent="0" marL="0">
              <a:lnSpc>
                <a:spcPct val="10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declarado — apoio em redação, scaffolding de código/testes e formatação da referência; modelagem conferida pela equipe e validada por testes.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5257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Referência:  </a:t>
            </a:r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et al. (2022), Electronic Commerce Research 22(4), DOI 10.1007/s10660-021-09468-x.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617220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Felipe Brazão · Gabriel Goes · Felipe Liborio  —  Obrigado!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Otimização de Orçamento de Marketing</dc:title>
  <dc:subject>PptxGenJS Presentation</dc:subject>
  <dc:creator>Felipe Brazão, Gabriel Goes, Felipe Liborio</dc:creator>
  <cp:lastModifiedBy>Felipe Brazão, Gabriel Goes, Felipe Liborio</cp:lastModifiedBy>
  <cp:revision>1</cp:revision>
  <dcterms:created xsi:type="dcterms:W3CDTF">2026-06-11T15:13:29Z</dcterms:created>
  <dcterms:modified xsi:type="dcterms:W3CDTF">2026-06-11T15:13:29Z</dcterms:modified>
</cp:coreProperties>
</file>